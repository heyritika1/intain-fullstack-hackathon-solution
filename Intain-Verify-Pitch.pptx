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9" r:id="rId20"/>
    <p:sldId id="270" r:id="rId21"/>
    <p:sldId id="271" r:id="rId22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9" d="100"/>
          <a:sy n="69" d="100"/>
        </p:scale>
        <p:origin x="54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9978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801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kern="0" spc="4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INTAIN VERIFY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20574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Loan Data Verification Copilot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trust-me data to traceable truth.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3566160"/>
            <a:ext cx="10881360" cy="2103120"/>
          </a:xfrm>
          <a:prstGeom prst="roundRect">
            <a:avLst>
              <a:gd name="adj" fmla="val 3478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74904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Submitted by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00400" y="37490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 err="1" smtClean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Krits</a:t>
            </a:r>
            <a:r>
              <a:rPr lang="en-US" sz="1500" dirty="0" smtClean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Code(</a:t>
            </a:r>
            <a:r>
              <a:rPr lang="en-US" sz="1500" dirty="0" err="1" smtClean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Ritika</a:t>
            </a:r>
            <a:r>
              <a:rPr lang="en-US" sz="1500" dirty="0" smtClean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 err="1" smtClean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Bisht</a:t>
            </a:r>
            <a:r>
              <a:rPr lang="en-US" sz="1500" dirty="0" smtClean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425196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URL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00400" y="42519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https://intain-full-stack-hackathon-solutio-pi.vercel.app/login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475488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 URL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00400" y="4754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https://github.com/HeyRitika1/Intain-FullStack-Hackathon-Solution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6537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Intain Verify   ·   Loan Data Verification Copilot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Index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32688"/>
            <a:ext cx="1005840" cy="5486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deck covers, in order.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160020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was asked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74720" y="160020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 statement, in one slide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1984248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198424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built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474720" y="1984248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solution, in one slide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2368296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97280" y="2368296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features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74720" y="2368296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that ships in the running app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2752344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2752344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Unique selling points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474720" y="2752344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this stands out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3136392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97280" y="313639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Documents in the repo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474720" y="3136392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three written artefacts, in one grid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3520440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97280" y="35204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README.md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474720" y="352044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Setup, env, seed data, features, where to look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09360" y="1600200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58000" y="160020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architecture-note.pdf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35440" y="160020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technical architecture, 7 sections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09360" y="1984248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858000" y="198424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agentic-coding-log.pdf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35440" y="1984248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 discipline + 6 caught-bad-AI cases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09360" y="2368296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858000" y="2368296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Feature Quality — deep dive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235440" y="2368296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the AI panel is the differentiator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09360" y="2752344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858000" y="2752344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Traceability &amp; Audit — deep dive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9235440" y="2752344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Hash chain, verify chain, tamper demo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309360" y="3136392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858000" y="313639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TL;DR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9235440" y="3136392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one-slide summary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6537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Intain Verify   ·   Loan Data Verification Copilot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was asked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32688"/>
            <a:ext cx="1005840" cy="5486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full-stack copilot that turns trust-me loan data into verifiable, auditable records.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5577840" cy="4754880"/>
          </a:xfrm>
          <a:prstGeom prst="roundRect">
            <a:avLst>
              <a:gd name="adj" fmla="val 1538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69164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pain we accepted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5800" y="2148840"/>
            <a:ext cx="530352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Servicer files arrive as CSVs from three sources — loan tape, servicer update, borrower list. They disagree.</a:t>
            </a:r>
            <a:endParaRPr lang="en-US" sz="13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Field-by-field validation is manual; exceptions pile up faster than a human can triage.</a:t>
            </a:r>
            <a:endParaRPr lang="en-US" sz="13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There is no proof to a downstream investor that a loan was actually reviewed and by whom.</a:t>
            </a:r>
            <a:endParaRPr lang="en-US" sz="13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is either a black box (dangerous) or absent (slow). Neither is acceptable.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554480"/>
            <a:ext cx="5577840" cy="4754880"/>
          </a:xfrm>
          <a:prstGeom prst="roundRect">
            <a:avLst>
              <a:gd name="adj" fmla="val 1538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69164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four asks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00800" y="2148840"/>
            <a:ext cx="530352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Ingest → validate → surface exceptions → let a reviewer resolve them.</a:t>
            </a:r>
            <a:endParaRPr lang="en-US" sz="13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 an AI review assistant that suggests, never decides.</a:t>
            </a:r>
            <a:endParaRPr lang="en-US" sz="13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Produce a tamper-evident audit trail an investor can verify.</a:t>
            </a:r>
            <a:endParaRPr lang="en-US" sz="13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 a real dev-log — including where the AI was caught being wrong.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6537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Intain Verify   ·   Loan Data Verification Copilot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32688"/>
            <a:ext cx="1005840" cy="5486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live MERN application — three portals, one config-driven engine, one hash-chained audit trail.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39496" y="16002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9496" y="1645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INGEST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39496" y="20116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3-CSV upload, client sha256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31136" y="187452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414016" y="16002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14016" y="1645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414016" y="20116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Config-driven rules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05656" y="187452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▶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288536" y="16002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88536" y="1645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ASSIST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288536" y="20116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Suggests, never decides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980176" y="187452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▶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63056" y="16002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63056" y="1645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HUMAN REVIEW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163056" y="20116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Accept / edit / reject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854696" y="187452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▶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037576" y="16002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37576" y="1645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037576" y="20116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Hash-chained record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729216" y="187452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▶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912096" y="16002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912096" y="1645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912096" y="20116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Chain check + trust score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02336" y="2834640"/>
            <a:ext cx="3703320" cy="3383280"/>
          </a:xfrm>
          <a:prstGeom prst="roundRect">
            <a:avLst>
              <a:gd name="adj" fmla="val 2162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2336" y="2834640"/>
            <a:ext cx="3703320" cy="73152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2" name="Text 30"/>
          <p:cNvSpPr/>
          <p:nvPr/>
        </p:nvSpPr>
        <p:spPr>
          <a:xfrm>
            <a:off x="585216" y="297180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OPERATOR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585216" y="3429000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Distinct visual language + role-scoped permissions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85216" y="3840480"/>
            <a:ext cx="33375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Three-CSV ingest with sha256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Import health dashboard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Freshness bar per source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242816" y="2834640"/>
            <a:ext cx="3703320" cy="3383280"/>
          </a:xfrm>
          <a:prstGeom prst="roundRect">
            <a:avLst>
              <a:gd name="adj" fmla="val 2162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242816" y="2834640"/>
            <a:ext cx="3703320" cy="73152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37" name="Text 35"/>
          <p:cNvSpPr/>
          <p:nvPr/>
        </p:nvSpPr>
        <p:spPr>
          <a:xfrm>
            <a:off x="4425696" y="297180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300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REVIEWER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4425696" y="3429000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Distinct visual language + role-scoped permissions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425696" y="3840480"/>
            <a:ext cx="33375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Blocking-first exception queue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Review Assistant panel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Side-by-side reconciliation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083296" y="2834640"/>
            <a:ext cx="3703320" cy="3383280"/>
          </a:xfrm>
          <a:prstGeom prst="roundRect">
            <a:avLst>
              <a:gd name="adj" fmla="val 2162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83296" y="2834640"/>
            <a:ext cx="3703320" cy="7315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42" name="Text 40"/>
          <p:cNvSpPr/>
          <p:nvPr/>
        </p:nvSpPr>
        <p:spPr>
          <a:xfrm>
            <a:off x="8266176" y="297180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30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8266176" y="3429000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Distinct visual language + role-scoped permissions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266176" y="3840480"/>
            <a:ext cx="33375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Verified records browse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Trust score portfolio gauge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Converse with data (NL query)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6537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Intain Verify   ·   Loan Data Verification Copilot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features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32688"/>
            <a:ext cx="1005840" cy="5486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that ships in the running app today.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5623560" cy="932688"/>
          </a:xfrm>
          <a:prstGeom prst="roundRect">
            <a:avLst>
              <a:gd name="adj" fmla="val 7843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600200"/>
            <a:ext cx="73152" cy="932688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655064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role-based portals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" y="2002536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Operator, Reviewer, Consumer — each with its own visual language and route tree.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5623560" cy="932688"/>
          </a:xfrm>
          <a:prstGeom prst="roundRect">
            <a:avLst>
              <a:gd name="adj" fmla="val 7843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600200"/>
            <a:ext cx="73152" cy="932688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3" name="Text 11"/>
          <p:cNvSpPr/>
          <p:nvPr/>
        </p:nvSpPr>
        <p:spPr>
          <a:xfrm>
            <a:off x="6419088" y="1655064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Config-driven validation engine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19088" y="2002536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rules loaded from samples/validation_rules.json with a small expression grammar.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670048"/>
            <a:ext cx="5623560" cy="932688"/>
          </a:xfrm>
          <a:prstGeom prst="roundRect">
            <a:avLst>
              <a:gd name="adj" fmla="val 7843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670048"/>
            <a:ext cx="73152" cy="932688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72491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Review Assistant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" y="3072384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Visible reasoning chain, per-field accept/edit/reject, source hint, confidence bar.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2670048"/>
            <a:ext cx="5623560" cy="932688"/>
          </a:xfrm>
          <a:prstGeom prst="roundRect">
            <a:avLst>
              <a:gd name="adj" fmla="val 7843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2670048"/>
            <a:ext cx="73152" cy="932688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272491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Provider-agnostic AI + deterministic fallback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19088" y="3072384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OpenAI / Gemini / Azure — same wire format. Demoable with zero keys.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739896"/>
            <a:ext cx="5623560" cy="932688"/>
          </a:xfrm>
          <a:prstGeom prst="roundRect">
            <a:avLst>
              <a:gd name="adj" fmla="val 7843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3739896"/>
            <a:ext cx="73152" cy="93268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7947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Hash-chained audit trail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58368" y="4142232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state change is a hash-linked event. verifyChain + live tamper script.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17920" y="3739896"/>
            <a:ext cx="5623560" cy="932688"/>
          </a:xfrm>
          <a:prstGeom prst="roundRect">
            <a:avLst>
              <a:gd name="adj" fmla="val 7843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17920" y="3739896"/>
            <a:ext cx="73152" cy="93268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9" name="Text 27"/>
          <p:cNvSpPr/>
          <p:nvPr/>
        </p:nvSpPr>
        <p:spPr>
          <a:xfrm>
            <a:off x="6419088" y="37947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Side-by-side reconciliation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19088" y="4142232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Loan tape vs servicer update, one-click resolution per field.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809744"/>
            <a:ext cx="5623560" cy="932688"/>
          </a:xfrm>
          <a:prstGeom prst="roundRect">
            <a:avLst>
              <a:gd name="adj" fmla="val 7843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" y="4809744"/>
            <a:ext cx="73152" cy="93268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3" name="Text 31"/>
          <p:cNvSpPr/>
          <p:nvPr/>
        </p:nvSpPr>
        <p:spPr>
          <a:xfrm>
            <a:off x="658368" y="4864608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Trust score per loan + portfolio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58368" y="521208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Completeness + consistency + freshness + review coverage.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17920" y="4809744"/>
            <a:ext cx="5623560" cy="932688"/>
          </a:xfrm>
          <a:prstGeom prst="roundRect">
            <a:avLst>
              <a:gd name="adj" fmla="val 7843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17920" y="4809744"/>
            <a:ext cx="73152" cy="93268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7" name="Text 35"/>
          <p:cNvSpPr/>
          <p:nvPr/>
        </p:nvSpPr>
        <p:spPr>
          <a:xfrm>
            <a:off x="6419088" y="4864608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Converse with data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419088" y="521208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Natural language → sanitised Mongo filter, verified-loans only.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7200" y="5879592"/>
            <a:ext cx="5623560" cy="932688"/>
          </a:xfrm>
          <a:prstGeom prst="roundRect">
            <a:avLst>
              <a:gd name="adj" fmla="val 7843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57200" y="5879592"/>
            <a:ext cx="73152" cy="932688"/>
          </a:xfrm>
          <a:prstGeom prst="rect">
            <a:avLst/>
          </a:prstGeom>
          <a:solidFill>
            <a:srgbClr val="9CA3AF"/>
          </a:solidFill>
          <a:ln/>
        </p:spPr>
      </p:sp>
      <p:sp>
        <p:nvSpPr>
          <p:cNvPr id="41" name="Text 39"/>
          <p:cNvSpPr/>
          <p:nvPr/>
        </p:nvSpPr>
        <p:spPr>
          <a:xfrm>
            <a:off x="658368" y="5934456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In-app development log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58368" y="6281928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entries at /dev-log with a dedicated caught-bad-AI surface.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217920" y="5879592"/>
            <a:ext cx="5623560" cy="932688"/>
          </a:xfrm>
          <a:prstGeom prst="roundRect">
            <a:avLst>
              <a:gd name="adj" fmla="val 7843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217920" y="5879592"/>
            <a:ext cx="73152" cy="932688"/>
          </a:xfrm>
          <a:prstGeom prst="rect">
            <a:avLst/>
          </a:prstGeom>
          <a:solidFill>
            <a:srgbClr val="9CA3AF"/>
          </a:solidFill>
          <a:ln/>
        </p:spPr>
      </p:sp>
      <p:sp>
        <p:nvSpPr>
          <p:cNvPr id="45" name="Text 43"/>
          <p:cNvSpPr/>
          <p:nvPr/>
        </p:nvSpPr>
        <p:spPr>
          <a:xfrm>
            <a:off x="6419088" y="5934456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Sealed portable bundle export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419088" y="6281928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CSV + JSON, JSON sealed with a hash the client can re-verify.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6537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Intain Verify   ·   Loan Data Verification Copilot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Unique selling points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32688"/>
            <a:ext cx="1005840" cy="5486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things that make this build stand out.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645920"/>
            <a:ext cx="822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508760" y="16276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AI cannot mark a loan Verified. Ever.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508760" y="1993392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Enforced by a hard-coded whitelist on both /api/loans/:id and /api/exceptions/:id/resolve. Documented, tested, cannot be bypassed by asking politely.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56032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651760"/>
            <a:ext cx="822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1508760" y="263347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state change is hash-chained and re-verifiable by the client.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508760" y="2999232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exported JSON bundle carries a portable bundleHash. The Consumer portal recomputes it in-browser. Break one byte, get a red chip.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56616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657600"/>
            <a:ext cx="822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1508760" y="363931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tamper demo baked into the build.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08760" y="4005072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npm run demo:tamper flips a byte in a verified record. /consumer/audit surfaces the break in the chain immediately.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57200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663440"/>
            <a:ext cx="822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1508760" y="464515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Provider-agnostic AI with a real deterministic fallback.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508760" y="5010912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AI panel is fully demoable with AI_ENABLED=false. Nobody ever sees a broken feature because a key expired.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557784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5669280"/>
            <a:ext cx="822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1508760" y="565099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Trust score that combines four independent signals.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508760" y="6016752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Completeness + consistency + freshness + review coverage. Per loan and portfolio — with a leaderboard of the lowest-trust records.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6537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Intain Verify   ·   Loan Data Verification Copilot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Documents in the repo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32688"/>
            <a:ext cx="1005840" cy="5486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focused written artefacts. Nothing is only in the video — every claim in the deck has a document behind it.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11247120" cy="1371600"/>
          </a:xfrm>
          <a:prstGeom prst="roundRect">
            <a:avLst>
              <a:gd name="adj" fmla="val 5333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600200"/>
            <a:ext cx="73152" cy="13716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69164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README.md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326880" y="1709928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Setup + run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" y="210312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 boot the app on a fresh laptop in under 5 minutes: prerequisites, setup commands, a copy-paste .env template, seed-data instructions, top-features list, and a where-to-look URL table with 15 direct deep links into the running app.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11247120" cy="1371600"/>
          </a:xfrm>
          <a:prstGeom prst="roundRect">
            <a:avLst>
              <a:gd name="adj" fmla="val 5333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154680"/>
            <a:ext cx="73152" cy="13716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24612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architecture-note.pdf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326880" y="3264408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Technical spec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365760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4–5 page PDF covering seven sections: executive summary, data model, API surface, validation engine, AI service, audit trail, and the trade-offs — with an ASCII component topology and an ER diagram.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709160"/>
            <a:ext cx="11247120" cy="1371600"/>
          </a:xfrm>
          <a:prstGeom prst="roundRect">
            <a:avLst>
              <a:gd name="adj" fmla="val 5333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4709160"/>
            <a:ext cx="73152" cy="137160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480060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agentic-coding-log.pdf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326880" y="4818888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 discipline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8368" y="521208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AI-authored vs human-authored split per module, plus six real caught-bad-AI cases with the before code, the human review note, and the shipped fix. Includes non-feature AI use across build, test, refactor, and debug.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6537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Intain Verify   ·   Loan Data Verification Copilot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653796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README.md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README — Run it on a fresh laptop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1005840" cy="5486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zero-friction entry point. Six blocks, nothing extra.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5577840" cy="4754880"/>
          </a:xfrm>
          <a:prstGeom prst="roundRect">
            <a:avLst>
              <a:gd name="adj" fmla="val 1538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7373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covers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194560"/>
            <a:ext cx="530352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Prerequisites — Node 18+, MongoDB, npm 9+.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Setup command block — clone, copy env, npm run setup, npm run dev.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exact .env template with safe defaults, ready to fill.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three-provider AI table — OpenAI, Gemini, Azure — same OpenAI-compatible wire format.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Seed-data testing — npm run reset rebuilds 60 loans + 15 rules + 40 exceptions + 18 dev-log entries.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four seeded logins with role labels for instant sign-in.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ten-item top-features list — the same features listed on slide 5.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where-to-look URL table with 15 direct deep links into the running app.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four-item troubleshooting block for the only failures a fresh laptop actually hits.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1600200"/>
            <a:ext cx="5577840" cy="2286000"/>
          </a:xfrm>
          <a:prstGeom prst="roundRect">
            <a:avLst>
              <a:gd name="adj" fmla="val 3200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17373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 open it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0" y="2194560"/>
            <a:ext cx="5303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README.md in the repo root.</a:t>
            </a:r>
            <a:endParaRPr lang="en-US" sz="11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Follow the four-command setup block.</a:t>
            </a:r>
            <a:endParaRPr lang="en-US" sz="11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 in with any seeded credential shown on the home page.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72200" y="402336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416052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0" y="4617720"/>
            <a:ext cx="53035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guesswork — every command is copy-paste.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works without a key thanks to the deterministic fallback.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seeded URL in the where-to-look table is clickable and lands on real data.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6537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Intain Verify   ·   Loan Data Verification Copilot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653796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architecture-note.pdf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note — the technical spec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1005840" cy="5486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4–5 page PDF. Seven sections, no marketing.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5577840" cy="4754880"/>
          </a:xfrm>
          <a:prstGeom prst="roundRect">
            <a:avLst>
              <a:gd name="adj" fmla="val 1538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7373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covers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194560"/>
            <a:ext cx="530352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Executive summary + ASCII component topology + stack rationale table.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Data model — 10 collections with an ER diagram and the synthetic-id convention.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API surface — access tiers (public / auth / role) and endpoint families in a two-column grid.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Validation engine — the 18-operator expression grammar and cross-source conflict handling.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AI service — 8-template table, provider adapter env vars, deterministic fallback, human-in-the-loop rules.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 Audit trail — hash formula, per-loanId mutex, verifyChain, VerifiedLoanRecord recordHash, portable bundleHash.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7. Trade-offs — correctness over throughput, append-only VLR, hash chain (not blockchain), deliberate non-goals.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1600200"/>
            <a:ext cx="5577840" cy="2286000"/>
          </a:xfrm>
          <a:prstGeom prst="roundRect">
            <a:avLst>
              <a:gd name="adj" fmla="val 3200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17373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 open it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0" y="2194560"/>
            <a:ext cx="5303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architecture-note.pdf in any PDF viewer.</a:t>
            </a:r>
            <a:endParaRPr lang="en-US" sz="11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Formatted for A4 — prints cleanly on 4 pages.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72200" y="402336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416052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0" y="4617720"/>
            <a:ext cx="53035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a lead architect would ask about, answered without needing the running app.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'what we would add next' box shows the roadmap without over-promising.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design decision is written next to its tradeoff — nothing is hand-waved.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6537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Intain Verify   ·   Loan Data Verification Copilot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653796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agentic-coding-log.pdf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coding log — the dev discipline artefact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1005840" cy="5486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 real moments where a human caught the AI being wrong before it shipped.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5577840" cy="4754880"/>
          </a:xfrm>
          <a:prstGeom prst="roundRect">
            <a:avLst>
              <a:gd name="adj" fmla="val 1538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7373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covers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194560"/>
            <a:ext cx="530352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KPIs — 80% AI-authored, 20% human, 6 caught-bad-AI incidents.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Per-module AI-authored % bar chart — 14 modules, uneven and honest (20% for business logic, 85% for dashboards).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1 — AI drafted an interest_rate &gt; 15 rule that would have failed 60% of real loans.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2 — AI-generated Object.assign against untrusted output; replaced with a hard-coded whitelist.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3 — canonicalStringify tripped on ObjectId; caught by the client re-verify step in the smoke test.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4 — Express route ordering shadowed /chain-check; found during Consumer login.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5 — Number(null) === 0 broke the Converse pagination; fixed in 20 minutes.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6 — Auto-dismiss on AI-rule reject was skipped; caught by the two-step smoke.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Non-feature AI use grid — build, test, refactor, debug (all four covered).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Timeline — the six cases mapped to the module they were caught in.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1600200"/>
            <a:ext cx="5577840" cy="2286000"/>
          </a:xfrm>
          <a:prstGeom prst="roundRect">
            <a:avLst>
              <a:gd name="adj" fmla="val 3200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17373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 open it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0" y="2194560"/>
            <a:ext cx="5303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agentic-coding-log.pdf in any PDF viewer.</a:t>
            </a:r>
            <a:endParaRPr lang="en-US" sz="11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in-app equivalent at http://localhost:5173/dev-log/caught-bad-ai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72200" y="402336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416052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0" y="4617720"/>
            <a:ext cx="53035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case shows before code, human review note, and the shipped fix.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cases surface at /dev-log/caught-bad-ai — the log is real, not retrofitted.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20% human number is where it matters — validation, AI-resolve, audit trail.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6537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Intain Verify   ·   Loan Data Verification Copilot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Feature Quality — deep dive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32688"/>
            <a:ext cx="1005840" cy="5486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the AI Review Assistant is the differentiator, not the risk.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5623560" cy="1051560"/>
          </a:xfrm>
          <a:prstGeom prst="roundRect">
            <a:avLst>
              <a:gd name="adj" fmla="val 6957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600200"/>
            <a:ext cx="73152" cy="105156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737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05840" y="16916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suggests, human decides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2039112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AI output lands in the Reviewer panel with per-field Accept / Edit / Reject controls.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0200"/>
            <a:ext cx="5623560" cy="1051560"/>
          </a:xfrm>
          <a:prstGeom prst="roundRect">
            <a:avLst>
              <a:gd name="adj" fmla="val 6957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600200"/>
            <a:ext cx="73152" cy="105156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/>
          <p:nvPr/>
        </p:nvSpPr>
        <p:spPr>
          <a:xfrm>
            <a:off x="6355080" y="1737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766560" y="16916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Whitelist on every AI-adjacent write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766560" y="2039112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PATCH /api/loans/:id and /api/exceptions/:id/resolve both drop any key not in the whitelist.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788920"/>
            <a:ext cx="5623560" cy="1051560"/>
          </a:xfrm>
          <a:prstGeom prst="roundRect">
            <a:avLst>
              <a:gd name="adj" fmla="val 6957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788920"/>
            <a:ext cx="73152" cy="105156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2926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005840" y="2880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Reasoning is visible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05840" y="3227832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Reasoning chain, source hint, and confidence bar — no black box, no unlabelled numbers.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2788920"/>
            <a:ext cx="5623560" cy="1051560"/>
          </a:xfrm>
          <a:prstGeom prst="roundRect">
            <a:avLst>
              <a:gd name="adj" fmla="val 6957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17920" y="2788920"/>
            <a:ext cx="73152" cy="105156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4" name="Text 22"/>
          <p:cNvSpPr/>
          <p:nvPr/>
        </p:nvSpPr>
        <p:spPr>
          <a:xfrm>
            <a:off x="6355080" y="2926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766560" y="2880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Provider-agnostic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766560" y="3227832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OpenAI-compatible wire format; swap OpenAI, Gemini, or Azure with three env vars.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977640"/>
            <a:ext cx="5623560" cy="1051560"/>
          </a:xfrm>
          <a:prstGeom prst="roundRect">
            <a:avLst>
              <a:gd name="adj" fmla="val 6957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3977640"/>
            <a:ext cx="73152" cy="105156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4114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1005840" y="40690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 fallback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05840" y="4416552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AI_ENABLED=false is fully demoable. Nobody ever sees a dead panel because a key expired.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17920" y="3977640"/>
            <a:ext cx="5623560" cy="1051560"/>
          </a:xfrm>
          <a:prstGeom prst="roundRect">
            <a:avLst>
              <a:gd name="adj" fmla="val 6957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17920" y="3977640"/>
            <a:ext cx="73152" cy="105156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4" name="Text 32"/>
          <p:cNvSpPr/>
          <p:nvPr/>
        </p:nvSpPr>
        <p:spPr>
          <a:xfrm>
            <a:off x="6355080" y="4114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6766560" y="40690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AI-drafted rules go through dry-run + approve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766560" y="4416552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can ask AI to draft a rule; it hits dry-run before it can be activated.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57200" y="5166360"/>
            <a:ext cx="5623560" cy="1051560"/>
          </a:xfrm>
          <a:prstGeom prst="roundRect">
            <a:avLst>
              <a:gd name="adj" fmla="val 6957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7200" y="5166360"/>
            <a:ext cx="73152" cy="10515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9" name="Text 37"/>
          <p:cNvSpPr/>
          <p:nvPr/>
        </p:nvSpPr>
        <p:spPr>
          <a:xfrm>
            <a:off x="594360" y="53035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✕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1005840" y="52578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cannot mark a loan Verified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005840" y="5605272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 boundary. Enforced in code by a whitelist on both write endpoints — see agentic-coding-log Case 2.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217920" y="5166360"/>
            <a:ext cx="5623560" cy="1051560"/>
          </a:xfrm>
          <a:prstGeom prst="roundRect">
            <a:avLst>
              <a:gd name="adj" fmla="val 6957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217920" y="5166360"/>
            <a:ext cx="73152" cy="10515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4" name="Text 42"/>
          <p:cNvSpPr/>
          <p:nvPr/>
        </p:nvSpPr>
        <p:spPr>
          <a:xfrm>
            <a:off x="6355080" y="53035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✕</a:t>
            </a:r>
            <a:endParaRPr lang="en-US" sz="2000" dirty="0"/>
          </a:p>
        </p:txBody>
      </p:sp>
      <p:sp>
        <p:nvSpPr>
          <p:cNvPr id="45" name="Text 43"/>
          <p:cNvSpPr/>
          <p:nvPr/>
        </p:nvSpPr>
        <p:spPr>
          <a:xfrm>
            <a:off x="6766560" y="52578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cannot silently mutate a record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766560" y="5605272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AI acceptance writes an AiRecommendation + a ReviewDecision — both are hash-chained.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6537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Intain Verify   ·   Loan Data Verification Copilot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Traceability &amp; Audit — deep dive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32688"/>
            <a:ext cx="1005840" cy="5486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state change is a hash-linked event. The chain re-verifies in-browser.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5577840" cy="4754880"/>
          </a:xfrm>
          <a:prstGeom prst="roundRect">
            <a:avLst>
              <a:gd name="adj" fmla="val 1538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7373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 chain is built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5800" y="219456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recordHash = sha256(</a:t>
            </a:r>
            <a:r>
              <a:rPr lang="en-US" sz="13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canonicalStringify(payload)</a:t>
            </a:r>
            <a:r>
              <a:rPr lang="en-US" sz="130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+ prevHash 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530352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Canonical JSON = keys sorted, ObjectIds coerced, dates ISO-8601.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prevHash chains every AuditEvent to the one before it.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Per-loanId mutex prevents interleaved writes from breaking the chain.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VerifiedLoanRecord.recordHash seals the snapshot at verify time.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Portable bundleHash lets the Consumer re-verify a downloaded JSON in-browser.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verifyChain() re-walks the chain and reports the first bad link, if any.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1600200"/>
            <a:ext cx="5577840" cy="4754880"/>
          </a:xfrm>
          <a:prstGeom prst="roundRect">
            <a:avLst>
              <a:gd name="adj" fmla="val 1538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17373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tamper demo, live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0" y="2194560"/>
            <a:ext cx="53035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Log in as consumer, open a verified loan.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Note the green chain-ok chip.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In a terminal, run npm run demo:tamper.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Refresh — the chip is now red.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/consumer/audit shows the exact block that broke.</a:t>
            </a:r>
            <a:endParaRPr lang="en-US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 npm run demo:untamper restores the chain.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0" y="4617720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111A2E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466344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Bottom line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37960" y="4983480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is running code, not marketing. Flip a byte in the database and the UI turns red in real time.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6537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Intain Verify   ·   Loan Data Verification Copilot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TL;DR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32688"/>
            <a:ext cx="1005840" cy="5486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you only remember one slide, this is it.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11247120" cy="4297680"/>
          </a:xfrm>
          <a:prstGeom prst="roundRect">
            <a:avLst>
              <a:gd name="adj" fmla="val 1702"/>
            </a:avLst>
          </a:prstGeom>
          <a:solidFill>
            <a:srgbClr val="16223B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7830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0" y="178308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live MERN copilot that turns three-source loan CSVs into hash-chained verified records.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35000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0" y="2350008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Suggests, never decides. Provider-agnostic. Deterministic fallback. Reasoning is visible.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2916936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743200" y="2916936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state change is hash-linked. The consumer re-verifies exports in-browser.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" y="3483864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Trust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743200" y="3483864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trust score combining completeness, consistency, freshness, and review coverage.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7240" y="4050792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Discipline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743200" y="4050792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dev-log entries in-app. Six caught-bad-AI moments with before / note / fix.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7240" y="4617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Artefacts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0" y="461772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README, architecture note, agentic coding log — all three live in this repo.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77240" y="518464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Boot time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743200" y="5184648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3F4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Under 5 minutes on a fresh laptop. Zero keys required for a full demo.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200400" y="5989320"/>
            <a:ext cx="5760720" cy="502920"/>
          </a:xfrm>
          <a:prstGeom prst="roundRect">
            <a:avLst>
              <a:gd name="adj" fmla="val 14545"/>
            </a:avLst>
          </a:prstGeom>
          <a:solidFill>
            <a:srgbClr val="F59E0B"/>
          </a:solidFill>
          <a:ln/>
        </p:spPr>
      </p:sp>
      <p:sp>
        <p:nvSpPr>
          <p:cNvPr id="23" name="Text 21"/>
          <p:cNvSpPr/>
          <p:nvPr/>
        </p:nvSpPr>
        <p:spPr>
          <a:xfrm>
            <a:off x="3200400" y="5989320"/>
            <a:ext cx="5760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0B12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trust-me data to traceable truth.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537960"/>
            <a:ext cx="64008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00" b="0">
                <a:solidFill>
                  <a:srgbClr val="AAB6C9"/>
                </a:solidFill>
                <a:latin typeface="Aptos"/>
              </a:rPr>
              <a:t>Intain Verify   ·   Loan Data Verification 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700" b="1">
                <a:solidFill>
                  <a:srgbClr val="F5F7FA"/>
                </a:solidFill>
                <a:latin typeface="Aptos"/>
              </a:rPr>
              <a:t>End-to-end application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>
                <a:solidFill>
                  <a:srgbClr val="AAB6C9"/>
                </a:solidFill>
                <a:latin typeface="Aptos"/>
              </a:rPr>
              <a:t>One lifecycle: raw loan data → reviewed exceptions → verified, traceable records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100584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3520440" cy="658368"/>
          </a:xfrm>
          <a:prstGeom prst="roundRect">
            <a:avLst/>
          </a:prstGeom>
          <a:solidFill>
            <a:srgbClr val="16223B"/>
          </a:solidFill>
          <a:ln>
            <a:solidFill>
              <a:srgbClr val="2A39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572768"/>
            <a:ext cx="54864" cy="65836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82495"/>
            <a:ext cx="324612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50" b="1">
                <a:solidFill>
                  <a:srgbClr val="F5F7FA"/>
                </a:solidFill>
                <a:latin typeface="Aptos"/>
              </a:rPr>
              <a:t>OPERATOR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48256"/>
            <a:ext cx="3227832" cy="91439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19" b="0">
                <a:solidFill>
                  <a:srgbClr val="AAB6C9"/>
                </a:solidFill>
                <a:latin typeface="Aptos"/>
              </a:rPr>
              <a:t>Ingest + lineage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1572768"/>
            <a:ext cx="3520440" cy="658368"/>
          </a:xfrm>
          <a:prstGeom prst="roundRect">
            <a:avLst/>
          </a:prstGeom>
          <a:solidFill>
            <a:srgbClr val="16223B"/>
          </a:solidFill>
          <a:ln>
            <a:solidFill>
              <a:srgbClr val="2A39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1572768"/>
            <a:ext cx="54864" cy="6583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682495"/>
            <a:ext cx="324612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50" b="1">
                <a:solidFill>
                  <a:srgbClr val="F5F7FA"/>
                </a:solidFill>
                <a:latin typeface="Aptos"/>
              </a:rPr>
              <a:t>REVIEWER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8" y="2048256"/>
            <a:ext cx="3227832" cy="91439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19" b="0">
                <a:solidFill>
                  <a:srgbClr val="AAB6C9"/>
                </a:solidFill>
                <a:latin typeface="Aptos"/>
              </a:rPr>
              <a:t>Resolve + reconcile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1583" y="1572768"/>
            <a:ext cx="3520440" cy="658368"/>
          </a:xfrm>
          <a:prstGeom prst="roundRect">
            <a:avLst/>
          </a:prstGeom>
          <a:solidFill>
            <a:srgbClr val="16223B"/>
          </a:solidFill>
          <a:ln>
            <a:solidFill>
              <a:srgbClr val="2A39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1583" y="1572768"/>
            <a:ext cx="54864" cy="65836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66175" y="1682495"/>
            <a:ext cx="324612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50" b="1">
                <a:solidFill>
                  <a:srgbClr val="F5F7FA"/>
                </a:solidFill>
                <a:latin typeface="Aptos"/>
              </a:rPr>
              <a:t>CONSUMER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5" y="2048256"/>
            <a:ext cx="3227832" cy="91439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19" b="0">
                <a:solidFill>
                  <a:srgbClr val="AAB6C9"/>
                </a:solidFill>
                <a:latin typeface="Aptos"/>
              </a:rPr>
              <a:t>Consume + prove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606040"/>
            <a:ext cx="1444752" cy="1261872"/>
          </a:xfrm>
          <a:prstGeom prst="roundRect">
            <a:avLst/>
          </a:prstGeom>
          <a:solidFill>
            <a:srgbClr val="16223B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" y="2633472"/>
            <a:ext cx="1298448" cy="120700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69" b="1">
                <a:solidFill>
                  <a:srgbClr val="F5F7FA"/>
                </a:solidFill>
                <a:latin typeface="Aptos"/>
              </a:rPr>
              <a:t>1
UPLOAD
3 CSVs
+ client SHA-256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947672" y="3236976"/>
            <a:ext cx="219456" cy="0"/>
          </a:xfrm>
          <a:prstGeom prst="line">
            <a:avLst/>
          </a:prstGeom>
          <a:ln w="20320">
            <a:solidFill>
              <a:srgbClr val="AAB6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167128" y="2606040"/>
            <a:ext cx="1444752" cy="1261872"/>
          </a:xfrm>
          <a:prstGeom prst="roundRect">
            <a:avLst/>
          </a:prstGeom>
          <a:solidFill>
            <a:srgbClr val="16223B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40280" y="2633472"/>
            <a:ext cx="1298448" cy="120700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69" b="1">
                <a:solidFill>
                  <a:srgbClr val="F5F7FA"/>
                </a:solidFill>
                <a:latin typeface="Aptos"/>
              </a:rPr>
              <a:t>2
NORMALIZE
Raw import
+ source lineage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611880" y="3236976"/>
            <a:ext cx="219456" cy="0"/>
          </a:xfrm>
          <a:prstGeom prst="line">
            <a:avLst/>
          </a:prstGeom>
          <a:ln w="20320">
            <a:solidFill>
              <a:srgbClr val="AAB6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831336" y="2606040"/>
            <a:ext cx="1444752" cy="1261872"/>
          </a:xfrm>
          <a:prstGeom prst="roundRect">
            <a:avLst/>
          </a:prstGeom>
          <a:solidFill>
            <a:srgbClr val="16223B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04488" y="2633472"/>
            <a:ext cx="1298448" cy="120700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69" b="1">
                <a:solidFill>
                  <a:srgbClr val="F5F7FA"/>
                </a:solidFill>
                <a:latin typeface="Aptos"/>
              </a:rPr>
              <a:t>3
VALIDATE
Config-driven
rules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276088" y="3236976"/>
            <a:ext cx="219456" cy="0"/>
          </a:xfrm>
          <a:prstGeom prst="line">
            <a:avLst/>
          </a:prstGeom>
          <a:ln w="20320">
            <a:solidFill>
              <a:srgbClr val="AAB6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495544" y="2606040"/>
            <a:ext cx="1444752" cy="1261872"/>
          </a:xfrm>
          <a:prstGeom prst="roundRect">
            <a:avLst/>
          </a:prstGeom>
          <a:solidFill>
            <a:srgbClr val="16223B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68696" y="2633472"/>
            <a:ext cx="1298448" cy="120700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69" b="1">
                <a:solidFill>
                  <a:srgbClr val="F5F7FA"/>
                </a:solidFill>
                <a:latin typeface="Aptos"/>
              </a:rPr>
              <a:t>4
EXCEPTIONS
Queue by
severity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40296" y="3236976"/>
            <a:ext cx="219456" cy="0"/>
          </a:xfrm>
          <a:prstGeom prst="line">
            <a:avLst/>
          </a:prstGeom>
          <a:ln w="20320">
            <a:solidFill>
              <a:srgbClr val="AAB6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159752" y="2606040"/>
            <a:ext cx="1444752" cy="1261872"/>
          </a:xfrm>
          <a:prstGeom prst="roundRect">
            <a:avLst/>
          </a:prstGeom>
          <a:solidFill>
            <a:srgbClr val="16223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32904" y="2633472"/>
            <a:ext cx="1298448" cy="120700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69" b="1">
                <a:solidFill>
                  <a:srgbClr val="F5F7FA"/>
                </a:solidFill>
                <a:latin typeface="Aptos"/>
              </a:rPr>
              <a:t>5
AI ASSIST
Explain +
recommend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604504" y="3236976"/>
            <a:ext cx="219456" cy="0"/>
          </a:xfrm>
          <a:prstGeom prst="line">
            <a:avLst/>
          </a:prstGeom>
          <a:ln w="20320">
            <a:solidFill>
              <a:srgbClr val="AAB6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823960" y="2606040"/>
            <a:ext cx="1444752" cy="1261872"/>
          </a:xfrm>
          <a:prstGeom prst="roundRect">
            <a:avLst/>
          </a:prstGeom>
          <a:solidFill>
            <a:srgbClr val="16223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97112" y="2633472"/>
            <a:ext cx="1298448" cy="120700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69" b="1">
                <a:solidFill>
                  <a:srgbClr val="F5F7FA"/>
                </a:solidFill>
                <a:latin typeface="Aptos"/>
              </a:rPr>
              <a:t>6
HUMAN REVIEW
Accept / edit /
reject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268712" y="3236976"/>
            <a:ext cx="219456" cy="0"/>
          </a:xfrm>
          <a:prstGeom prst="line">
            <a:avLst/>
          </a:prstGeom>
          <a:ln w="20320">
            <a:solidFill>
              <a:srgbClr val="AAB6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10488168" y="2606040"/>
            <a:ext cx="1444752" cy="1261872"/>
          </a:xfrm>
          <a:prstGeom prst="roundRect">
            <a:avLst/>
          </a:prstGeom>
          <a:solidFill>
            <a:srgbClr val="16223B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61320" y="2633472"/>
            <a:ext cx="1298448" cy="120700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69" b="1">
                <a:solidFill>
                  <a:srgbClr val="F5F7FA"/>
                </a:solidFill>
                <a:latin typeface="Aptos"/>
              </a:rPr>
              <a:t>7
VERIFY
Trust score +
snapshot + hash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4187952"/>
            <a:ext cx="3566160" cy="1417320"/>
          </a:xfrm>
          <a:prstGeom prst="roundRect">
            <a:avLst/>
          </a:prstGeom>
          <a:solidFill>
            <a:srgbClr val="16223B"/>
          </a:solidFill>
          <a:ln>
            <a:solidFill>
              <a:srgbClr val="2A39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66928" y="4187952"/>
            <a:ext cx="54864" cy="14173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297680"/>
            <a:ext cx="32918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1">
                <a:solidFill>
                  <a:srgbClr val="F5F7FA"/>
                </a:solidFill>
                <a:latin typeface="Aptos"/>
              </a:rPr>
              <a:t>TRACEABILITY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4663440"/>
            <a:ext cx="3273552" cy="8503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>
                <a:solidFill>
                  <a:srgbClr val="AAB6C9"/>
                </a:solidFill>
                <a:latin typeface="Aptos"/>
              </a:rPr>
              <a:t>Every important state change becomes an audit event. Events are hash-linked through prevHash → recordHash.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70832" y="4187952"/>
            <a:ext cx="3566160" cy="1417320"/>
          </a:xfrm>
          <a:prstGeom prst="roundRect">
            <a:avLst/>
          </a:prstGeom>
          <a:solidFill>
            <a:srgbClr val="16223B"/>
          </a:solidFill>
          <a:ln>
            <a:solidFill>
              <a:srgbClr val="2A39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370832" y="4187952"/>
            <a:ext cx="54864" cy="141732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35424" y="4297680"/>
            <a:ext cx="32918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1">
                <a:solidFill>
                  <a:srgbClr val="F5F7FA"/>
                </a:solidFill>
                <a:latin typeface="Aptos"/>
              </a:rPr>
              <a:t>RECONCILIATION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35424" y="4663440"/>
            <a:ext cx="3273552" cy="8503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>
                <a:solidFill>
                  <a:srgbClr val="AAB6C9"/>
                </a:solidFill>
                <a:latin typeface="Aptos"/>
              </a:rPr>
              <a:t>Loan tape vs servicer update are shown side-by-side. The Reviewer decides which value becomes canonical.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74736" y="4187952"/>
            <a:ext cx="3566160" cy="1417320"/>
          </a:xfrm>
          <a:prstGeom prst="roundRect">
            <a:avLst/>
          </a:prstGeom>
          <a:solidFill>
            <a:srgbClr val="16223B"/>
          </a:solidFill>
          <a:ln>
            <a:solidFill>
              <a:srgbClr val="2A39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174736" y="4187952"/>
            <a:ext cx="54864" cy="14173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39327" y="4297680"/>
            <a:ext cx="32918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1">
                <a:solidFill>
                  <a:srgbClr val="F5F7FA"/>
                </a:solidFill>
                <a:latin typeface="Aptos"/>
              </a:rPr>
              <a:t>DATA CONSUMER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39327" y="4663440"/>
            <a:ext cx="3273552" cy="8503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>
                <a:solidFill>
                  <a:srgbClr val="AAB6C9"/>
                </a:solidFill>
                <a:latin typeface="Aptos"/>
              </a:rPr>
              <a:t>Verified records, Trust Score, verification history, audit trail and export — the final trusted hand-off.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537960"/>
            <a:ext cx="64008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00" b="0">
                <a:solidFill>
                  <a:srgbClr val="AAB6C9"/>
                </a:solidFill>
                <a:latin typeface="Aptos"/>
              </a:rPr>
              <a:t>Intain Verify   ·   Loan Data Verification 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700" b="1">
                <a:solidFill>
                  <a:srgbClr val="F5F7FA"/>
                </a:solidFill>
                <a:latin typeface="Aptos"/>
              </a:rPr>
              <a:t>Backend architecture &amp; data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>
                <a:solidFill>
                  <a:srgbClr val="AAB6C9"/>
                </a:solidFill>
                <a:latin typeface="Aptos"/>
              </a:rPr>
              <a:t>Node.js + Express REST API · modular services · MongoDB persistence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100584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27632"/>
            <a:ext cx="1417320" cy="658368"/>
          </a:xfrm>
          <a:prstGeom prst="roundRect">
            <a:avLst/>
          </a:prstGeom>
          <a:solidFill>
            <a:srgbClr val="16223B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55064"/>
            <a:ext cx="1271016" cy="603503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5F7FA"/>
                </a:solidFill>
                <a:latin typeface="Aptos"/>
              </a:rPr>
              <a:t>HTTP Request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12848" y="1627632"/>
            <a:ext cx="1828800" cy="658368"/>
          </a:xfrm>
          <a:prstGeom prst="roundRect">
            <a:avLst/>
          </a:prstGeom>
          <a:solidFill>
            <a:srgbClr val="16223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0" y="1655064"/>
            <a:ext cx="1682496" cy="603503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5F7FA"/>
                </a:solidFill>
                <a:latin typeface="Aptos"/>
              </a:rPr>
              <a:t>Auth + RBAC
middleware/auth.js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627632"/>
            <a:ext cx="1508760" cy="658368"/>
          </a:xfrm>
          <a:prstGeom prst="roundRect">
            <a:avLst/>
          </a:prstGeom>
          <a:solidFill>
            <a:srgbClr val="16223B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70832" y="1655064"/>
            <a:ext cx="1362456" cy="603503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5F7FA"/>
                </a:solidFill>
                <a:latin typeface="Aptos"/>
              </a:rPr>
              <a:t>Routes
/api/*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1616" y="1627632"/>
            <a:ext cx="1737360" cy="658368"/>
          </a:xfrm>
          <a:prstGeom prst="roundRect">
            <a:avLst/>
          </a:prstGeom>
          <a:solidFill>
            <a:srgbClr val="16223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655064"/>
            <a:ext cx="1591056" cy="603503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5F7FA"/>
                </a:solidFill>
                <a:latin typeface="Aptos"/>
              </a:rPr>
              <a:t>Services
business logic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627632"/>
            <a:ext cx="1508760" cy="658368"/>
          </a:xfrm>
          <a:prstGeom prst="roundRect">
            <a:avLst/>
          </a:prstGeom>
          <a:solidFill>
            <a:srgbClr val="16223B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655064"/>
            <a:ext cx="1362456" cy="603503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5F7FA"/>
                </a:solidFill>
                <a:latin typeface="Aptos"/>
              </a:rPr>
              <a:t>Models
Mongoose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12096" y="1627632"/>
            <a:ext cx="1508760" cy="658368"/>
          </a:xfrm>
          <a:prstGeom prst="roundRect">
            <a:avLst/>
          </a:prstGeom>
          <a:solidFill>
            <a:srgbClr val="16223B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85248" y="1655064"/>
            <a:ext cx="1362456" cy="603503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5F7FA"/>
                </a:solidFill>
                <a:latin typeface="Aptos"/>
              </a:rPr>
              <a:t>MongoDB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984248" y="1956816"/>
            <a:ext cx="228600" cy="0"/>
          </a:xfrm>
          <a:prstGeom prst="line">
            <a:avLst/>
          </a:prstGeom>
          <a:ln w="20320">
            <a:solidFill>
              <a:srgbClr val="AAB6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041648" y="1956816"/>
            <a:ext cx="256032" cy="0"/>
          </a:xfrm>
          <a:prstGeom prst="line">
            <a:avLst/>
          </a:prstGeom>
          <a:ln w="20320">
            <a:solidFill>
              <a:srgbClr val="AAB6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806440" y="1956816"/>
            <a:ext cx="265176" cy="0"/>
          </a:xfrm>
          <a:prstGeom prst="line">
            <a:avLst/>
          </a:prstGeom>
          <a:ln w="20320">
            <a:solidFill>
              <a:srgbClr val="AAB6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808975" y="1956816"/>
            <a:ext cx="329185" cy="0"/>
          </a:xfrm>
          <a:prstGeom prst="line">
            <a:avLst/>
          </a:prstGeom>
          <a:ln w="20320">
            <a:solidFill>
              <a:srgbClr val="AAB6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646920" y="1956816"/>
            <a:ext cx="265176" cy="0"/>
          </a:xfrm>
          <a:prstGeom prst="line">
            <a:avLst/>
          </a:prstGeom>
          <a:ln w="20320">
            <a:solidFill>
              <a:srgbClr val="AAB6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66928" y="2697480"/>
            <a:ext cx="2743200" cy="1417320"/>
          </a:xfrm>
          <a:prstGeom prst="roundRect">
            <a:avLst/>
          </a:prstGeom>
          <a:solidFill>
            <a:srgbClr val="16223B"/>
          </a:solidFill>
          <a:ln>
            <a:solidFill>
              <a:srgbClr val="2A39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2697480"/>
            <a:ext cx="54864" cy="14173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807208"/>
            <a:ext cx="24688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1">
                <a:solidFill>
                  <a:srgbClr val="F5F7FA"/>
                </a:solidFill>
                <a:latin typeface="Aptos"/>
              </a:rPr>
              <a:t>INGESTION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172968"/>
            <a:ext cx="2450592" cy="8503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0">
                <a:solidFill>
                  <a:srgbClr val="AAB6C9"/>
                </a:solidFill>
                <a:latin typeface="Aptos"/>
              </a:rPr>
              <a:t>ingestService.js
• parse CSVs
• preserve rawText + fileHash
• normalize loans
• source lineage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93008" y="2697480"/>
            <a:ext cx="2743200" cy="1417320"/>
          </a:xfrm>
          <a:prstGeom prst="roundRect">
            <a:avLst/>
          </a:prstGeom>
          <a:solidFill>
            <a:srgbClr val="16223B"/>
          </a:solidFill>
          <a:ln>
            <a:solidFill>
              <a:srgbClr val="2A39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93008" y="2697480"/>
            <a:ext cx="54864" cy="14173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0" y="2807208"/>
            <a:ext cx="24688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1">
                <a:solidFill>
                  <a:srgbClr val="F5F7FA"/>
                </a:solidFill>
                <a:latin typeface="Aptos"/>
              </a:rPr>
              <a:t>VALIDATION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3172968"/>
            <a:ext cx="2450592" cy="8503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0">
                <a:solidFill>
                  <a:srgbClr val="AAB6C9"/>
                </a:solidFill>
                <a:latin typeface="Aptos"/>
              </a:rPr>
              <a:t>ruleEngine/
• configurable expressions
• exception creation
• blocking / severity
• stale + duplicate checks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19088" y="2697480"/>
            <a:ext cx="2423160" cy="1417320"/>
          </a:xfrm>
          <a:prstGeom prst="roundRect">
            <a:avLst/>
          </a:prstGeom>
          <a:solidFill>
            <a:srgbClr val="16223B"/>
          </a:solidFill>
          <a:ln>
            <a:solidFill>
              <a:srgbClr val="2A39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19088" y="2697480"/>
            <a:ext cx="54864" cy="141732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79" y="2807208"/>
            <a:ext cx="21488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1">
                <a:solidFill>
                  <a:srgbClr val="F5F7FA"/>
                </a:solidFill>
                <a:latin typeface="Aptos"/>
              </a:rPr>
              <a:t>AI + RECON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79" y="3172968"/>
            <a:ext cx="2130552" cy="8503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19" b="0">
                <a:solidFill>
                  <a:srgbClr val="AAB6C9"/>
                </a:solidFill>
                <a:latin typeface="Aptos"/>
              </a:rPr>
              <a:t>aiService.js
reconciliationService.js
recommendations stay separate from final decisions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25128" y="2697480"/>
            <a:ext cx="2395728" cy="1417320"/>
          </a:xfrm>
          <a:prstGeom prst="roundRect">
            <a:avLst/>
          </a:prstGeom>
          <a:solidFill>
            <a:srgbClr val="16223B"/>
          </a:solidFill>
          <a:ln>
            <a:solidFill>
              <a:srgbClr val="2A39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25128" y="2697480"/>
            <a:ext cx="54864" cy="14173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89719" y="2807208"/>
            <a:ext cx="2121408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1">
                <a:solidFill>
                  <a:srgbClr val="F5F7FA"/>
                </a:solidFill>
                <a:latin typeface="Aptos"/>
              </a:rPr>
              <a:t>VERIFY + AUDIT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9719" y="3172968"/>
            <a:ext cx="2103120" cy="8503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0">
                <a:solidFill>
                  <a:srgbClr val="AAB6C9"/>
                </a:solidFill>
                <a:latin typeface="Aptos"/>
              </a:rPr>
              <a:t>verificationService.js
trustScoreService.js
hashChainService.js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315968"/>
            <a:ext cx="27432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1">
                <a:solidFill>
                  <a:srgbClr val="F5F7FA"/>
                </a:solidFill>
                <a:latin typeface="Aptos"/>
              </a:rPr>
              <a:t>Core MongoDB collections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4681728"/>
            <a:ext cx="1298448" cy="512064"/>
          </a:xfrm>
          <a:prstGeom prst="roundRect">
            <a:avLst/>
          </a:prstGeom>
          <a:solidFill>
            <a:srgbClr val="16223B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709160"/>
            <a:ext cx="1152144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1">
                <a:solidFill>
                  <a:srgbClr val="F5F7FA"/>
                </a:solidFill>
                <a:latin typeface="Aptos"/>
              </a:rPr>
              <a:t>RawImport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984248" y="4681728"/>
            <a:ext cx="1298448" cy="512064"/>
          </a:xfrm>
          <a:prstGeom prst="roundRect">
            <a:avLst/>
          </a:prstGeom>
          <a:solidFill>
            <a:srgbClr val="16223B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057400" y="4709160"/>
            <a:ext cx="1152144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1">
                <a:solidFill>
                  <a:srgbClr val="F5F7FA"/>
                </a:solidFill>
                <a:latin typeface="Aptos"/>
              </a:rPr>
              <a:t>Loan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01568" y="4681728"/>
            <a:ext cx="1298448" cy="512064"/>
          </a:xfrm>
          <a:prstGeom prst="roundRect">
            <a:avLst/>
          </a:prstGeom>
          <a:solidFill>
            <a:srgbClr val="16223B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74720" y="4709160"/>
            <a:ext cx="1152144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1">
                <a:solidFill>
                  <a:srgbClr val="F5F7FA"/>
                </a:solidFill>
                <a:latin typeface="Aptos"/>
              </a:rPr>
              <a:t>Exception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18888" y="4681728"/>
            <a:ext cx="1572768" cy="512064"/>
          </a:xfrm>
          <a:prstGeom prst="roundRect">
            <a:avLst/>
          </a:prstGeom>
          <a:solidFill>
            <a:srgbClr val="16223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92040" y="4709160"/>
            <a:ext cx="1426464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1">
                <a:solidFill>
                  <a:srgbClr val="F5F7FA"/>
                </a:solidFill>
                <a:latin typeface="Aptos"/>
              </a:rPr>
              <a:t>AiRecommendation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510527" y="4681728"/>
            <a:ext cx="1298448" cy="512064"/>
          </a:xfrm>
          <a:prstGeom prst="roundRect">
            <a:avLst/>
          </a:prstGeom>
          <a:solidFill>
            <a:srgbClr val="16223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79" y="4709160"/>
            <a:ext cx="1152144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1">
                <a:solidFill>
                  <a:srgbClr val="F5F7FA"/>
                </a:solidFill>
                <a:latin typeface="Aptos"/>
              </a:rPr>
              <a:t>ReviewDecision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927848" y="4681728"/>
            <a:ext cx="1572768" cy="512064"/>
          </a:xfrm>
          <a:prstGeom prst="roundRect">
            <a:avLst/>
          </a:prstGeom>
          <a:solidFill>
            <a:srgbClr val="16223B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01000" y="4709160"/>
            <a:ext cx="1426464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1">
                <a:solidFill>
                  <a:srgbClr val="F5F7FA"/>
                </a:solidFill>
                <a:latin typeface="Aptos"/>
              </a:rPr>
              <a:t>VerifiedLoanRecord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619488" y="4681728"/>
            <a:ext cx="1298448" cy="512064"/>
          </a:xfrm>
          <a:prstGeom prst="roundRect">
            <a:avLst/>
          </a:prstGeom>
          <a:solidFill>
            <a:srgbClr val="16223B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92640" y="4709160"/>
            <a:ext cx="1152144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1">
                <a:solidFill>
                  <a:srgbClr val="F5F7FA"/>
                </a:solidFill>
                <a:latin typeface="Aptos"/>
              </a:rPr>
              <a:t>AuditEvent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036808" y="4681728"/>
            <a:ext cx="1298448" cy="512064"/>
          </a:xfrm>
          <a:prstGeom prst="roundRect">
            <a:avLst/>
          </a:prstGeom>
          <a:solidFill>
            <a:srgbClr val="16223B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109960" y="4709160"/>
            <a:ext cx="1152144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1">
                <a:solidFill>
                  <a:srgbClr val="F5F7FA"/>
                </a:solidFill>
                <a:latin typeface="Aptos"/>
              </a:rPr>
              <a:t>ValidationRule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5440680"/>
            <a:ext cx="164592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Aptos"/>
              </a:rPr>
              <a:t>Critical control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920240" y="5404104"/>
            <a:ext cx="93726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F5F7FA"/>
                </a:solidFill>
                <a:latin typeface="Aptos"/>
              </a:rPr>
              <a:t>AI write paths are whitelist-protected; AI cannot set verification status. Verification is a separate backend operation.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537960"/>
            <a:ext cx="64008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00" b="0">
                <a:solidFill>
                  <a:srgbClr val="AAB6C9"/>
                </a:solidFill>
                <a:latin typeface="Aptos"/>
              </a:rPr>
              <a:t>Intain Verify   ·   Loan Data Verification 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700" b="1">
                <a:solidFill>
                  <a:srgbClr val="F5F7FA"/>
                </a:solidFill>
                <a:latin typeface="Aptos"/>
              </a:rPr>
              <a:t>Frontend architecture &amp;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>
                <a:solidFill>
                  <a:srgbClr val="AAB6C9"/>
                </a:solidFill>
                <a:latin typeface="Aptos"/>
              </a:rPr>
              <a:t>React + Vite · role-based routes · reusable components · API client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100584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1508760" cy="640080"/>
          </a:xfrm>
          <a:prstGeom prst="roundRect">
            <a:avLst/>
          </a:prstGeom>
          <a:solidFill>
            <a:srgbClr val="16223B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27632"/>
            <a:ext cx="1362456" cy="58521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5F7FA"/>
                </a:solidFill>
                <a:latin typeface="Aptos"/>
              </a:rPr>
              <a:t>main.jsx
React mount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75688" y="1920240"/>
            <a:ext cx="256032" cy="0"/>
          </a:xfrm>
          <a:prstGeom prst="line">
            <a:avLst/>
          </a:prstGeom>
          <a:ln w="20320">
            <a:solidFill>
              <a:srgbClr val="AAB6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331720" y="1600200"/>
            <a:ext cx="1508760" cy="640080"/>
          </a:xfrm>
          <a:prstGeom prst="roundRect">
            <a:avLst/>
          </a:prstGeom>
          <a:solidFill>
            <a:srgbClr val="16223B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04872" y="1627632"/>
            <a:ext cx="1362456" cy="58521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5F7FA"/>
                </a:solidFill>
                <a:latin typeface="Aptos"/>
              </a:rPr>
              <a:t>App.jsx
Route tree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840480" y="1920240"/>
            <a:ext cx="256032" cy="0"/>
          </a:xfrm>
          <a:prstGeom prst="line">
            <a:avLst/>
          </a:prstGeom>
          <a:ln w="20320">
            <a:solidFill>
              <a:srgbClr val="AAB6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096512" y="1600200"/>
            <a:ext cx="1783080" cy="640080"/>
          </a:xfrm>
          <a:prstGeom prst="roundRect">
            <a:avLst/>
          </a:prstGeom>
          <a:solidFill>
            <a:srgbClr val="16223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69664" y="1627632"/>
            <a:ext cx="1636776" cy="58521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5F7FA"/>
                </a:solidFill>
                <a:latin typeface="Aptos"/>
              </a:rPr>
              <a:t>ProtectedRoute
AuthContext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79592" y="1920240"/>
            <a:ext cx="265176" cy="0"/>
          </a:xfrm>
          <a:prstGeom prst="line">
            <a:avLst/>
          </a:prstGeom>
          <a:ln w="20320">
            <a:solidFill>
              <a:srgbClr val="AAB6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144768" y="1600200"/>
            <a:ext cx="1783080" cy="640080"/>
          </a:xfrm>
          <a:prstGeom prst="roundRect">
            <a:avLst/>
          </a:prstGeom>
          <a:solidFill>
            <a:srgbClr val="16223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1627632"/>
            <a:ext cx="1636776" cy="58521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5F7FA"/>
                </a:solidFill>
                <a:latin typeface="Aptos"/>
              </a:rPr>
              <a:t>PortalLayout
role-scoped shell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927848" y="1920240"/>
            <a:ext cx="265176" cy="0"/>
          </a:xfrm>
          <a:prstGeom prst="line">
            <a:avLst/>
          </a:prstGeom>
          <a:ln w="20320">
            <a:solidFill>
              <a:srgbClr val="AAB6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193024" y="1600200"/>
            <a:ext cx="1097280" cy="640080"/>
          </a:xfrm>
          <a:prstGeom prst="roundRect">
            <a:avLst/>
          </a:prstGeom>
          <a:solidFill>
            <a:srgbClr val="16223B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6" y="1627632"/>
            <a:ext cx="950976" cy="58521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5F7FA"/>
                </a:solidFill>
                <a:latin typeface="Aptos"/>
              </a:rPr>
              <a:t>Pages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290304" y="1920240"/>
            <a:ext cx="265176" cy="0"/>
          </a:xfrm>
          <a:prstGeom prst="line">
            <a:avLst/>
          </a:prstGeom>
          <a:ln w="20320">
            <a:solidFill>
              <a:srgbClr val="AAB6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555480" y="1600200"/>
            <a:ext cx="1783080" cy="640080"/>
          </a:xfrm>
          <a:prstGeom prst="roundRect">
            <a:avLst/>
          </a:prstGeom>
          <a:solidFill>
            <a:srgbClr val="16223B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28632" y="1627632"/>
            <a:ext cx="1636776" cy="58521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5F7FA"/>
                </a:solidFill>
                <a:latin typeface="Aptos"/>
              </a:rPr>
              <a:t>Components
+ lib/api.js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2670048"/>
            <a:ext cx="3520440" cy="2057400"/>
          </a:xfrm>
          <a:prstGeom prst="roundRect">
            <a:avLst/>
          </a:prstGeom>
          <a:solidFill>
            <a:srgbClr val="16223B"/>
          </a:solidFill>
          <a:ln>
            <a:solidFill>
              <a:srgbClr val="2A39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2670048"/>
            <a:ext cx="54864" cy="2057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779776"/>
            <a:ext cx="324612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F5F7FA"/>
                </a:solidFill>
                <a:latin typeface="Aptos"/>
              </a:rPr>
              <a:t>DATA OPERATOR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145536"/>
            <a:ext cx="3227832" cy="149047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>
                <a:solidFill>
                  <a:srgbClr val="AAB6C9"/>
                </a:solidFill>
                <a:latin typeface="Aptos"/>
              </a:rPr>
              <a:t>pages/operator/
• UploadPage
• ImportHistoryPage
• OperatorDashboard
Flow: upload → import summary → validation health → source lineage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15968" y="2670048"/>
            <a:ext cx="3520440" cy="2057400"/>
          </a:xfrm>
          <a:prstGeom prst="roundRect">
            <a:avLst/>
          </a:prstGeom>
          <a:solidFill>
            <a:srgbClr val="16223B"/>
          </a:solidFill>
          <a:ln>
            <a:solidFill>
              <a:srgbClr val="2A39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15968" y="2670048"/>
            <a:ext cx="54864" cy="20574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80559" y="2779776"/>
            <a:ext cx="324612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F5F7FA"/>
                </a:solidFill>
                <a:latin typeface="Aptos"/>
              </a:rPr>
              <a:t>REVIEWER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59" y="3145536"/>
            <a:ext cx="3227832" cy="149047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>
                <a:solidFill>
                  <a:srgbClr val="AAB6C9"/>
                </a:solidFill>
                <a:latin typeface="Aptos"/>
              </a:rPr>
              <a:t>pages/reviewer/
• ExceptionQueuePage
• LoanDetailPage
• ReconciliationPage
• ReviewerDashboard
Flow: exception → AI panel → decision → reconciliation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5008" y="2670048"/>
            <a:ext cx="3520440" cy="2057400"/>
          </a:xfrm>
          <a:prstGeom prst="roundRect">
            <a:avLst/>
          </a:prstGeom>
          <a:solidFill>
            <a:srgbClr val="16223B"/>
          </a:solidFill>
          <a:ln>
            <a:solidFill>
              <a:srgbClr val="2A39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65008" y="2670048"/>
            <a:ext cx="54864" cy="2057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0" y="2779776"/>
            <a:ext cx="324612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F5F7FA"/>
                </a:solidFill>
                <a:latin typeface="Aptos"/>
              </a:rPr>
              <a:t>DATA CONSUMER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3145536"/>
            <a:ext cx="3227832" cy="149047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>
                <a:solidFill>
                  <a:srgbClr val="AAB6C9"/>
                </a:solidFill>
                <a:latin typeface="Aptos"/>
              </a:rPr>
              <a:t>pages/consumer/
• VerifiedRecordsPage
• VerifiedRecordDetailPage
• TrustScorePage
• AuditViewerPage
• ExportPage
Flow: verified record → trust → proof → export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010912"/>
            <a:ext cx="1828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1">
                <a:solidFill>
                  <a:srgbClr val="F5F7FA"/>
                </a:solidFill>
                <a:latin typeface="Aptos"/>
              </a:rPr>
              <a:t>Shared frontend layer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5394960"/>
            <a:ext cx="1463040" cy="530352"/>
          </a:xfrm>
          <a:prstGeom prst="roundRect">
            <a:avLst/>
          </a:prstGeom>
          <a:solidFill>
            <a:srgbClr val="16223B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422392"/>
            <a:ext cx="1316736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69" b="1">
                <a:solidFill>
                  <a:srgbClr val="F5F7FA"/>
                </a:solidFill>
                <a:latin typeface="Aptos"/>
              </a:rPr>
              <a:t>components/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176272" y="5394960"/>
            <a:ext cx="1737360" cy="530352"/>
          </a:xfrm>
          <a:prstGeom prst="roundRect">
            <a:avLst/>
          </a:prstGeom>
          <a:solidFill>
            <a:srgbClr val="16223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49424" y="5422392"/>
            <a:ext cx="1591056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69" b="1">
                <a:solidFill>
                  <a:srgbClr val="F5F7FA"/>
                </a:solidFill>
                <a:latin typeface="Aptos"/>
              </a:rPr>
              <a:t>context/AuthContext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059935" y="5394960"/>
            <a:ext cx="1463040" cy="530352"/>
          </a:xfrm>
          <a:prstGeom prst="roundRect">
            <a:avLst/>
          </a:prstGeom>
          <a:solidFill>
            <a:srgbClr val="16223B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33087" y="5422392"/>
            <a:ext cx="1316736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69" b="1">
                <a:solidFill>
                  <a:srgbClr val="F5F7FA"/>
                </a:solidFill>
                <a:latin typeface="Aptos"/>
              </a:rPr>
              <a:t>lib/api.js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79" y="5394960"/>
            <a:ext cx="1463040" cy="530352"/>
          </a:xfrm>
          <a:prstGeom prst="roundRect">
            <a:avLst/>
          </a:prstGeom>
          <a:solidFill>
            <a:srgbClr val="16223B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42431" y="5422392"/>
            <a:ext cx="1316736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69" b="1">
                <a:solidFill>
                  <a:srgbClr val="F5F7FA"/>
                </a:solidFill>
                <a:latin typeface="Aptos"/>
              </a:rPr>
              <a:t>lib/hash.js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278623" y="5394960"/>
            <a:ext cx="1463040" cy="530352"/>
          </a:xfrm>
          <a:prstGeom prst="roundRect">
            <a:avLst/>
          </a:prstGeom>
          <a:solidFill>
            <a:srgbClr val="16223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51775" y="5422392"/>
            <a:ext cx="1316736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69" b="1">
                <a:solidFill>
                  <a:srgbClr val="F5F7FA"/>
                </a:solidFill>
                <a:latin typeface="Aptos"/>
              </a:rPr>
              <a:t>ProtectedRoute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6099048"/>
            <a:ext cx="15087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Aptos"/>
              </a:rPr>
              <a:t>Key UX principle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28800" y="6053328"/>
            <a:ext cx="960120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F5F7FA"/>
                </a:solidFill>
                <a:latin typeface="Aptos"/>
              </a:rPr>
              <a:t>Each role sees only the workflow it needs — while all roles ultimately connect to the same verified-data lifecycle.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2223</Words>
  <Application>Microsoft Office PowerPoint</Application>
  <PresentationFormat>Widescreen</PresentationFormat>
  <Paragraphs>287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Intain Verify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Intain Verify — Pitch Deck</dc:title>
  <dc:subject>PptxGenJS Presentation</dc:subject>
  <dc:creator>Ritika Bisht</dc:creator>
  <cp:lastModifiedBy>Ryzen</cp:lastModifiedBy>
  <cp:revision>2</cp:revision>
  <dcterms:created xsi:type="dcterms:W3CDTF">2026-08-30T12:03:53Z</dcterms:created>
  <dcterms:modified xsi:type="dcterms:W3CDTF">2026-08-30T13:13:19Z</dcterms:modified>
</cp:coreProperties>
</file>